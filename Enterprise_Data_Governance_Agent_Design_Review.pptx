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36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073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Design review, not a final presentation. Ask for pushback on the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Land the three failure modes as governance failures, not just slow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at the purple band. This is the architectural idea in the whole project: one shared context object, no private agent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key move: we seeded the defects ourselves, so we know the right answer. This is what makes slide 13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single most important design decision. Rules produce every number; the LLM produces only prose.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Flag the vector-DB decision explicitly - it is a deliberate scoping call, not an omission.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 out loud: slide 3 was who does what, this is when it runs. The reducer point shows we have thought about the failure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Template for all four agent slides: reads, rules, LLM, writes. Metadata runs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oversell six dimensions. Four are measured; two are honestly declared unmeasurable.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Control gaps, not violations. Be ready to defend that distinction - it is the strongest point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that this agent never recomputes the score. Separation of scoring from recommendation is deliberate.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approval gate is the centrepiece for a governance project. Walk the yes branch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Very few projects report a metric. Precision and recall against seeded defects is the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Straight mapping to the brief. Keep it quick unless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the caching decision - it is why the demo will not stall.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here. Tie each control back to a mechanism already shown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0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evron 2"/>
          <p:cNvSpPr/>
          <p:nvPr/>
        </p:nvSpPr>
        <p:spPr>
          <a:xfrm>
            <a:off x="7162953" y="981037"/>
            <a:ext cx="4937760" cy="4937760"/>
          </a:xfrm>
          <a:prstGeom prst="chevron">
            <a:avLst/>
          </a:prstGeom>
          <a:solidFill>
            <a:srgbClr val="3E0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evron 3"/>
          <p:cNvSpPr/>
          <p:nvPr/>
        </p:nvSpPr>
        <p:spPr>
          <a:xfrm>
            <a:off x="7802575" y="981037"/>
            <a:ext cx="4937760" cy="4937760"/>
          </a:xfrm>
          <a:prstGeom prst="chevron">
            <a:avLst/>
          </a:prstGeom>
          <a:solidFill>
            <a:srgbClr val="55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evron 4"/>
          <p:cNvSpPr/>
          <p:nvPr/>
        </p:nvSpPr>
        <p:spPr>
          <a:xfrm>
            <a:off x="8503920" y="981037"/>
            <a:ext cx="4937760" cy="4937760"/>
          </a:xfrm>
          <a:prstGeom prst="chevron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448" y="2133810"/>
            <a:ext cx="832104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 dirty="0">
                <a:solidFill>
                  <a:srgbClr val="FFFFFF"/>
                </a:solidFill>
                <a:latin typeface="Arial"/>
              </a:rPr>
              <a:t>Enterprise Data
Governance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2109"/>
            <a:ext cx="7406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>
                <a:solidFill>
                  <a:srgbClr val="B49CC8"/>
                </a:solidFill>
                <a:latin typeface="Arial"/>
              </a:rPr>
              <a:t>A multi-agent GenAI platform for automated data quality, compliance classification, and risk-ranked remediation.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5413248"/>
            <a:ext cx="2011680" cy="0"/>
          </a:xfrm>
          <a:prstGeom prst="line">
            <a:avLst/>
          </a:prstGeom>
          <a:ln w="3175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5614416"/>
            <a:ext cx="7315200" cy="440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FFFFFF"/>
                </a:solidFill>
                <a:latin typeface="Arial"/>
              </a:rPr>
              <a:t>Names- </a:t>
            </a:r>
            <a:endParaRPr sz="1300" b="1" i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B49CC8"/>
                </a:solidFill>
                <a:latin typeface="Arial"/>
              </a:rPr>
              <a:t>Capstone Project  ·  Accenture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A100FF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Governance today is manual — and it does not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638251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5F70"/>
                </a:solidFill>
                <a:latin typeface="Arial"/>
              </a:rPr>
              <a:t>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3977639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A2E"/>
                </a:solidFill>
                <a:latin typeface="Arial"/>
              </a:rPr>
              <a:t>Data governance in most enterprises is a human process running on spreadsheets. An analyst opens an extract, profiles the columns by hand, hunts for personal data, and writes findings into a document.</a:t>
            </a:r>
          </a:p>
          <a:p>
            <a:pPr algn="l">
              <a:lnSpc>
                <a:spcPct val="142000"/>
              </a:lnSpc>
              <a:spcBef>
                <a:spcPts val="1000"/>
              </a:spcBef>
              <a:spcAft>
                <a:spcPts val="0"/>
              </a:spcAft>
            </a:pPr>
            <a:r>
              <a:rPr sz="1350" b="0" i="0">
                <a:solidFill>
                  <a:srgbClr val="1A1A2E"/>
                </a:solidFill>
                <a:latin typeface="Arial"/>
              </a:rPr>
              <a:t>That process breaks in three specific ways — and every one of them is a governance failure, not just an efficiency problem.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3977639" cy="2039112"/>
          </a:xfrm>
          <a:prstGeom prst="roundRect">
            <a:avLst>
              <a:gd name="adj" fmla="val 3500"/>
            </a:avLst>
          </a:prstGeom>
          <a:solidFill>
            <a:srgbClr val="F6EEFF"/>
          </a:solidFill>
          <a:ln w="12700">
            <a:solidFill>
              <a:srgbClr val="E2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60073"/>
                </a:solidFill>
                <a:latin typeface="Arial"/>
              </a:rPr>
              <a:t>GDPR and CCPA require an organisation to locate, classify and control personal data on demand. That is not a report you can rebuild by hand every quarter.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27632"/>
            <a:ext cx="6522415" cy="1353312"/>
          </a:xfrm>
          <a:prstGeom prst="roundRect">
            <a:avLst>
              <a:gd name="adj" fmla="val 3500"/>
            </a:avLst>
          </a:prstGeom>
          <a:solidFill>
            <a:srgbClr val="F7F7FA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303520" y="1901952"/>
            <a:ext cx="402336" cy="402336"/>
          </a:xfrm>
          <a:prstGeom prst="ellipse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0448" y="1883664"/>
            <a:ext cx="53794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It does not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2231136"/>
            <a:ext cx="537941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5F70"/>
                </a:solidFill>
                <a:latin typeface="Arial"/>
              </a:rPr>
              <a:t>One analyst, one table at a time. A 40-column extract is hours of manual profiling before any judgement is applied.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3236976"/>
            <a:ext cx="6522415" cy="1353312"/>
          </a:xfrm>
          <a:prstGeom prst="roundRect">
            <a:avLst>
              <a:gd name="adj" fmla="val 3500"/>
            </a:avLst>
          </a:prstGeom>
          <a:solidFill>
            <a:srgbClr val="F7F7FA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303520" y="3511296"/>
            <a:ext cx="402336" cy="402336"/>
          </a:xfrm>
          <a:prstGeom prst="ellipse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3493008"/>
            <a:ext cx="53794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It is not consistent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3840480"/>
            <a:ext cx="537941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5F70"/>
                </a:solidFill>
                <a:latin typeface="Arial"/>
              </a:rPr>
              <a:t>Two reviewers produce two different answers on the same dataset. There is no shared, machine-checkable definition of “good”.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846320"/>
            <a:ext cx="6522415" cy="1353312"/>
          </a:xfrm>
          <a:prstGeom prst="roundRect">
            <a:avLst>
              <a:gd name="adj" fmla="val 3500"/>
            </a:avLst>
          </a:prstGeom>
          <a:solidFill>
            <a:srgbClr val="F7F7FA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303520" y="5120640"/>
            <a:ext cx="402336" cy="402336"/>
          </a:xfrm>
          <a:prstGeom prst="ellipse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5102352"/>
            <a:ext cx="53794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It is not auditable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5449824"/>
            <a:ext cx="537941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5F70"/>
                </a:solidFill>
                <a:latin typeface="Arial"/>
              </a:rPr>
              <a:t>Findings live in spreadsheets and email threads. No trace of why a column was flagged, what rule fired, or who approved the fix.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A100FF"/>
                </a:solidFill>
                <a:latin typeface="Arial"/>
              </a:rPr>
              <a:t>HIGH-LEVEL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What the system is made of, and who owns what.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638251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5F70"/>
                </a:solidFill>
                <a:latin typeface="Arial"/>
              </a:rPr>
              <a:t>3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72887" cy="566928"/>
          </a:xfrm>
          <a:prstGeom prst="roundRect">
            <a:avLst>
              <a:gd name="adj" fmla="val 3500"/>
            </a:avLst>
          </a:prstGeom>
          <a:solidFill>
            <a:srgbClr val="F4F4F7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481568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2E"/>
                </a:solidFill>
                <a:latin typeface="Arial"/>
              </a:rPr>
              <a:t>Customer data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5F5F70"/>
                </a:solidFill>
                <a:latin typeface="Arial"/>
              </a:rPr>
              <a:t>CSV / XLSX extract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645920"/>
            <a:ext cx="5272887" cy="566928"/>
          </a:xfrm>
          <a:prstGeom prst="roundRect">
            <a:avLst>
              <a:gd name="adj" fmla="val 3500"/>
            </a:avLst>
          </a:prstGeom>
          <a:solidFill>
            <a:srgbClr val="F4F4F7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07327" y="1764792"/>
            <a:ext cx="481568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2E"/>
                </a:solidFill>
                <a:latin typeface="Arial"/>
              </a:rPr>
              <a:t>Regulation text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5F5F70"/>
                </a:solidFill>
                <a:latin typeface="Arial"/>
              </a:rPr>
              <a:t>GDPR + CCPA excerpts (PDF)</a:t>
            </a:r>
          </a:p>
        </p:txBody>
      </p:sp>
      <p:sp>
        <p:nvSpPr>
          <p:cNvPr id="9" name="Down Arrow 8"/>
          <p:cNvSpPr/>
          <p:nvPr/>
        </p:nvSpPr>
        <p:spPr>
          <a:xfrm>
            <a:off x="6004407" y="2258568"/>
            <a:ext cx="182880" cy="182879"/>
          </a:xfrm>
          <a:prstGeom prst="downArrow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911535" cy="512064"/>
          </a:xfrm>
          <a:prstGeom prst="roundRect">
            <a:avLst>
              <a:gd name="adj" fmla="val 3500"/>
            </a:avLst>
          </a:prstGeom>
          <a:solidFill>
            <a:srgbClr val="F4F4F7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487168"/>
            <a:ext cx="1091153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2E"/>
                </a:solidFill>
                <a:latin typeface="Arial"/>
              </a:rPr>
              <a:t>Ingestion &amp; Preprocessing   ·   schema detection, type inference, PDF → clause-anchored text chunks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004407" y="3044951"/>
            <a:ext cx="182880" cy="182879"/>
          </a:xfrm>
          <a:prstGeom prst="downArrow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3273551"/>
            <a:ext cx="10911535" cy="731520"/>
          </a:xfrm>
          <a:prstGeom prst="roundRect">
            <a:avLst>
              <a:gd name="adj" fmla="val 35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273551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40">
                <a:solidFill>
                  <a:srgbClr val="FFFFFF"/>
                </a:solidFill>
                <a:latin typeface="Arial"/>
              </a:rPr>
              <a:t>SHARED  GOVERNANCE  CONTEXT</a:t>
            </a:r>
          </a:p>
          <a:p>
            <a:pPr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 i="0">
                <a:solidFill>
                  <a:srgbClr val="B49CC8"/>
                </a:solidFill>
                <a:latin typeface="Arial"/>
              </a:rPr>
              <a:t>One ground-truth object. Every agent reads from it and writes back to it — no private agent state, no contradictory findings.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004407" y="4050791"/>
            <a:ext cx="182880" cy="182879"/>
          </a:xfrm>
          <a:prstGeom prst="downArrow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4279392"/>
            <a:ext cx="2535859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" y="4434840"/>
            <a:ext cx="2206675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2E"/>
                </a:solidFill>
                <a:latin typeface="Arial"/>
              </a:rPr>
              <a:t>Metadata
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919472"/>
            <a:ext cx="227982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00FF"/>
                </a:solidFill>
                <a:latin typeface="Arial"/>
              </a:rPr>
              <a:t>profiles every column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31971" y="4279392"/>
            <a:ext cx="2535859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750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96563" y="4434840"/>
            <a:ext cx="2206675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2E"/>
                </a:solidFill>
                <a:latin typeface="Arial"/>
              </a:rPr>
              <a:t>Data
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9987" y="4919472"/>
            <a:ext cx="227982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500C0"/>
                </a:solidFill>
                <a:latin typeface="Arial"/>
              </a:rPr>
              <a:t>scores 4 DQ dimensions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3863" y="4279392"/>
            <a:ext cx="2535859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FF5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8455" y="4434840"/>
            <a:ext cx="2206675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2E"/>
                </a:solidFill>
                <a:latin typeface="Arial"/>
              </a:rPr>
              <a:t>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4919472"/>
            <a:ext cx="227982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50A0"/>
                </a:solidFill>
                <a:latin typeface="Arial"/>
              </a:rPr>
              <a:t>classifies &amp; masks PII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15755" y="4279392"/>
            <a:ext cx="2535859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00B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80347" y="4434840"/>
            <a:ext cx="2206675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2E"/>
                </a:solidFill>
                <a:latin typeface="Arial"/>
              </a:rPr>
              <a:t>Governance
Recommendation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771" y="4919472"/>
            <a:ext cx="227982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B8A9"/>
                </a:solidFill>
                <a:latin typeface="Arial"/>
              </a:rPr>
              <a:t>ranks &amp; drafts fixes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6004407" y="5257799"/>
            <a:ext cx="182880" cy="182879"/>
          </a:xfrm>
          <a:prstGeom prst="downArrow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0080" y="5486399"/>
            <a:ext cx="10911535" cy="713232"/>
          </a:xfrm>
          <a:prstGeom prst="roundRect">
            <a:avLst>
              <a:gd name="adj" fmla="val 3500"/>
            </a:avLst>
          </a:prstGeom>
          <a:solidFill>
            <a:srgbClr val="F6EEFF"/>
          </a:solidFill>
          <a:ln w="12700">
            <a:solidFill>
              <a:srgbClr val="E2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5605271"/>
            <a:ext cx="39319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60073"/>
                </a:solidFill>
                <a:latin typeface="Arial"/>
              </a:rPr>
              <a:t>Orchestration &amp; Reporting Layer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5F5F70"/>
                </a:solidFill>
                <a:latin typeface="Arial"/>
              </a:rPr>
              <a:t>LangGraph state machine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57800" y="5678423"/>
            <a:ext cx="1902866" cy="338328"/>
          </a:xfrm>
          <a:prstGeom prst="roundRect">
            <a:avLst>
              <a:gd name="adj" fmla="val 500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Streamlit dashboard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25258" y="5678423"/>
            <a:ext cx="1902866" cy="338328"/>
          </a:xfrm>
          <a:prstGeom prst="roundRect">
            <a:avLst>
              <a:gd name="adj" fmla="val 500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Governance report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92716" y="5678423"/>
            <a:ext cx="1902866" cy="338328"/>
          </a:xfrm>
          <a:prstGeom prst="roundRect">
            <a:avLst>
              <a:gd name="adj" fmla="val 500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Append-only audit 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A100FF"/>
                </a:solidFill>
                <a:latin typeface="Arial"/>
              </a:rPr>
              <a:t>TEST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A synthetic dataset with defects we planted on purpose.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638251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5F70"/>
                </a:solidFill>
                <a:latin typeface="Arial"/>
              </a:rPr>
              <a:t>4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27632"/>
            <a:ext cx="3703320" cy="2395728"/>
          </a:xfrm>
          <a:prstGeom prst="roundRect">
            <a:avLst>
              <a:gd name="adj" fmla="val 3500"/>
            </a:avLst>
          </a:prstGeom>
          <a:solidFill>
            <a:srgbClr val="F6EEFF"/>
          </a:solidFill>
          <a:ln w="12700">
            <a:solidFill>
              <a:srgbClr val="E2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847088"/>
            <a:ext cx="319125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60073"/>
                </a:solidFill>
                <a:latin typeface="Arial"/>
              </a:rPr>
              <a:t>The dataset</a:t>
            </a:r>
          </a:p>
          <a:p>
            <a:pPr marL="210312" indent="-210312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A100FF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Synthetic e-commerce customer extract</a:t>
            </a:r>
          </a:p>
          <a:p>
            <a:pPr marL="210312" indent="-210312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1">
                <a:solidFill>
                  <a:srgbClr val="A100FF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~500 rows × 14 columns</a:t>
            </a:r>
          </a:p>
          <a:p>
            <a:pPr marL="210312" indent="-210312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1">
                <a:solidFill>
                  <a:srgbClr val="A100FF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Policy corpus: curated GDPR + CCPA excerpts, ~10 pages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100" b="0" i="1">
                <a:solidFill>
                  <a:srgbClr val="460073"/>
                </a:solidFill>
                <a:latin typeface="Arial"/>
              </a:rPr>
              <a:t>Synthetic by choice: it gives total control over ground truth and carries zero real-PII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06240"/>
            <a:ext cx="3703320" cy="1993392"/>
          </a:xfrm>
          <a:prstGeom prst="roundRect">
            <a:avLst>
              <a:gd name="adj" fmla="val 35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4389120"/>
            <a:ext cx="319125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123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1" i="0">
                <a:solidFill>
                  <a:srgbClr val="C98BFF"/>
                </a:solidFill>
                <a:latin typeface="Arial"/>
              </a:rPr>
              <a:t>labelled defects</a:t>
            </a:r>
          </a:p>
          <a:p>
            <a:pPr algn="l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0" i="0">
                <a:solidFill>
                  <a:srgbClr val="B49CC8"/>
                </a:solidFill>
                <a:latin typeface="Arial"/>
              </a:rPr>
              <a:t>Each one has a known column, row range and expected catcher. This is the ground truth for evaluation.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7448" y="1627632"/>
            <a:ext cx="6824167" cy="384048"/>
          </a:xfrm>
          <a:prstGeom prst="roundRect">
            <a:avLst>
              <a:gd name="adj" fmla="val 120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28616" y="1627632"/>
            <a:ext cx="334739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70">
                <a:solidFill>
                  <a:srgbClr val="FFFFFF"/>
                </a:solidFill>
                <a:latin typeface="Arial"/>
              </a:rPr>
              <a:t>SEEDED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6014" y="1627632"/>
            <a:ext cx="88714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70">
                <a:solidFill>
                  <a:srgbClr val="FFFFFF"/>
                </a:solidFill>
                <a:latin typeface="Arial"/>
              </a:rPr>
              <a:t>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4596" y="1627632"/>
            <a:ext cx="229701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70">
                <a:solidFill>
                  <a:srgbClr val="FFFFFF"/>
                </a:solidFill>
                <a:latin typeface="Arial"/>
              </a:rPr>
              <a:t>EXPECTED CATCHER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27448" y="2011680"/>
            <a:ext cx="6824167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28616" y="2011680"/>
            <a:ext cx="327424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Arial"/>
              </a:rPr>
              <a:t>Null-heavy columns (&gt;30% null)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6014" y="2011680"/>
            <a:ext cx="887141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100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4596" y="2011680"/>
            <a:ext cx="224215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500C0"/>
                </a:solidFill>
                <a:latin typeface="Arial"/>
              </a:rPr>
              <a:t>Quality — completeness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27448" y="2542032"/>
            <a:ext cx="6824167" cy="530352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28616" y="2542032"/>
            <a:ext cx="327424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Arial"/>
              </a:rPr>
              <a:t>Duplicate customer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6014" y="2542032"/>
            <a:ext cx="887141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100FF"/>
                </a:solidFill>
                <a:latin typeface="Arial"/>
              </a:rPr>
              <a:t>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4596" y="2542032"/>
            <a:ext cx="224215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500C0"/>
                </a:solidFill>
                <a:latin typeface="Arial"/>
              </a:rPr>
              <a:t>Quality — uniqueness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27448" y="3072384"/>
            <a:ext cx="6824167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28616" y="3072384"/>
            <a:ext cx="327424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Arial"/>
              </a:rPr>
              <a:t>Malformed email addresses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6014" y="3072384"/>
            <a:ext cx="887141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100FF"/>
                </a:solidFill>
                <a:latin typeface="Arial"/>
              </a:rPr>
              <a:t>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4596" y="3072384"/>
            <a:ext cx="224215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500C0"/>
                </a:solidFill>
                <a:latin typeface="Arial"/>
              </a:rPr>
              <a:t>Quality — validity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27448" y="3602736"/>
            <a:ext cx="6824167" cy="530352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28616" y="3602736"/>
            <a:ext cx="327424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Arial"/>
              </a:rPr>
              <a:t>Mixed state encodings (NY / New York)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6014" y="3602736"/>
            <a:ext cx="887141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100FF"/>
                </a:solidFill>
                <a:latin typeface="Arial"/>
              </a:rPr>
              <a:t>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4596" y="3602736"/>
            <a:ext cx="224215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500C0"/>
                </a:solidFill>
                <a:latin typeface="Arial"/>
              </a:rPr>
              <a:t>Quality — consistency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27448" y="4133087"/>
            <a:ext cx="6824167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28616" y="4133087"/>
            <a:ext cx="327424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Arial"/>
              </a:rPr>
              <a:t>Emails buried in free-text notes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6014" y="4133087"/>
            <a:ext cx="887141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100FF"/>
                </a:solidFill>
                <a:latin typeface="Arial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4596" y="4133087"/>
            <a:ext cx="224215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50A0"/>
                </a:solidFill>
                <a:latin typeface="Arial"/>
              </a:rPr>
              <a:t>Compliance — value scan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27448" y="4663440"/>
            <a:ext cx="6824167" cy="530352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28616" y="4663440"/>
            <a:ext cx="327424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Arial"/>
              </a:rPr>
              <a:t>National IDs in a mislabeled column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6014" y="4663440"/>
            <a:ext cx="887141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100FF"/>
                </a:solidFill>
                <a:latin typeface="Arial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54596" y="4663440"/>
            <a:ext cx="224215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50A0"/>
                </a:solidFill>
                <a:latin typeface="Arial"/>
              </a:rPr>
              <a:t>Compliance — value scan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27448" y="5193792"/>
            <a:ext cx="6824167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28616" y="5193792"/>
            <a:ext cx="327424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Arial"/>
              </a:rPr>
              <a:t>PII columns requiring masking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6014" y="5193792"/>
            <a:ext cx="887141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100FF"/>
                </a:solidFill>
                <a:latin typeface="Arial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4596" y="5193792"/>
            <a:ext cx="224215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50A0"/>
                </a:solidFill>
                <a:latin typeface="Arial"/>
              </a:rPr>
              <a:t>Compliance — column scan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7448" y="5888736"/>
            <a:ext cx="682416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F5F70"/>
                </a:solidFill>
                <a:latin typeface="Arial"/>
              </a:rPr>
              <a:t>Every count is a labelled row-and-column location, not an estimate. That is what makes the evaluation on slide 13 possible at 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A100FF"/>
                </a:solidFill>
                <a:latin typeface="Arial"/>
              </a:rPr>
              <a:t>DESIGN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Rules decide. The LLM explains.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638251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5F70"/>
                </a:solidFill>
                <a:latin typeface="Arial"/>
              </a:rPr>
              <a:t>5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27632"/>
            <a:ext cx="10911535" cy="1152144"/>
          </a:xfrm>
          <a:prstGeom prst="roundRect">
            <a:avLst>
              <a:gd name="adj" fmla="val 3500"/>
            </a:avLst>
          </a:prstGeom>
          <a:solidFill>
            <a:srgbClr val="F6EEFF"/>
          </a:solidFill>
          <a:ln w="12700">
            <a:solidFill>
              <a:srgbClr val="E2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2834640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A100FF"/>
                </a:solidFill>
                <a:latin typeface="Arial"/>
              </a:rPr>
              <a:t>LLM LAYER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1">
                <a:solidFill>
                  <a:srgbClr val="5F5F70"/>
                </a:solidFill>
                <a:latin typeface="Arial"/>
              </a:rPr>
              <a:t>generates 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1984248"/>
            <a:ext cx="1738045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60073"/>
                </a:solidFill>
                <a:latin typeface="Arial"/>
              </a:rPr>
              <a:t>Column descriptions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70549" y="1984248"/>
            <a:ext cx="1738045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60073"/>
                </a:solidFill>
                <a:latin typeface="Arial"/>
              </a:rPr>
              <a:t>Quality narratives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54899" y="1984248"/>
            <a:ext cx="1738045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60073"/>
                </a:solidFill>
                <a:latin typeface="Arial"/>
              </a:rPr>
              <a:t>Remediation drafts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39249" y="1984248"/>
            <a:ext cx="1738045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60073"/>
                </a:solidFill>
                <a:latin typeface="Arial"/>
              </a:rPr>
              <a:t>Executive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98648"/>
            <a:ext cx="10911535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1">
                <a:solidFill>
                  <a:srgbClr val="5F5F70"/>
                </a:solidFill>
                <a:latin typeface="Arial"/>
              </a:rPr>
              <a:t>the boundary is absolute — no generated value is ever scored, and no score is ever generated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64991"/>
            <a:ext cx="10911535" cy="1152144"/>
          </a:xfrm>
          <a:prstGeom prst="roundRect">
            <a:avLst>
              <a:gd name="adj" fmla="val 35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364991"/>
            <a:ext cx="2834640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FFFFFF"/>
                </a:solidFill>
                <a:latin typeface="Arial"/>
              </a:rPr>
              <a:t>DETERMINISTIC CORE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1">
                <a:solidFill>
                  <a:srgbClr val="B49CC8"/>
                </a:solidFill>
                <a:latin typeface="Arial"/>
              </a:rPr>
              <a:t>computes numbers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3721607"/>
            <a:ext cx="1738045" cy="438912"/>
          </a:xfrm>
          <a:prstGeom prst="roundRect">
            <a:avLst>
              <a:gd name="adj" fmla="val 50000"/>
            </a:avLst>
          </a:prstGeom>
          <a:solidFill>
            <a:srgbClr val="5E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Profiling statistics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70549" y="3721607"/>
            <a:ext cx="1738045" cy="438912"/>
          </a:xfrm>
          <a:prstGeom prst="roundRect">
            <a:avLst>
              <a:gd name="adj" fmla="val 50000"/>
            </a:avLst>
          </a:prstGeom>
          <a:solidFill>
            <a:srgbClr val="5E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DQ dimension scores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54899" y="3721607"/>
            <a:ext cx="1738045" cy="438912"/>
          </a:xfrm>
          <a:prstGeom prst="roundRect">
            <a:avLst>
              <a:gd name="adj" fmla="val 50000"/>
            </a:avLst>
          </a:prstGeom>
          <a:solidFill>
            <a:srgbClr val="5E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PII rule matches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39249" y="3721607"/>
            <a:ext cx="1738045" cy="438912"/>
          </a:xfrm>
          <a:prstGeom prst="roundRect">
            <a:avLst>
              <a:gd name="adj" fmla="val 50000"/>
            </a:avLst>
          </a:prstGeom>
          <a:solidFill>
            <a:srgbClr val="5E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Risk scores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54879"/>
            <a:ext cx="5300319" cy="1444752"/>
          </a:xfrm>
          <a:prstGeom prst="roundRect">
            <a:avLst>
              <a:gd name="adj" fmla="val 3500"/>
            </a:avLst>
          </a:prstGeom>
          <a:solidFill>
            <a:srgbClr val="F7F7FA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4937759"/>
            <a:ext cx="4824831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B8A9"/>
                </a:solidFill>
                <a:latin typeface="Arial"/>
              </a:rPr>
              <a:t>Why</a:t>
            </a:r>
          </a:p>
          <a:p>
            <a:pPr algn="l">
              <a:lnSpc>
                <a:spcPct val="132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Arial"/>
              </a:rPr>
              <a:t>A wrong score is a governance failure. A clumsy sentence is not. Keeping scoring deterministic also means the system still produces a complete, correct report when the LLM is slow or unavailable.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1295" y="4754879"/>
            <a:ext cx="5300319" cy="1444752"/>
          </a:xfrm>
          <a:prstGeom prst="roundRect">
            <a:avLst>
              <a:gd name="adj" fmla="val 3500"/>
            </a:avLst>
          </a:prstGeom>
          <a:solidFill>
            <a:srgbClr val="F7F7FA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89039" y="4937759"/>
            <a:ext cx="4824831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50A0"/>
                </a:solidFill>
                <a:latin typeface="Arial"/>
              </a:rPr>
              <a:t>Alternative considered and rejected</a:t>
            </a:r>
          </a:p>
          <a:p>
            <a:pPr algn="l">
              <a:lnSpc>
                <a:spcPct val="132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Arial"/>
              </a:rPr>
              <a:t>LLM-as-scorer. Rejected because it is not reproducible, not inspectable, and cannot be defended to an auditor who asks why a column scored 61 instead of 74.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A100FF"/>
                </a:solidFill>
                <a:latin typeface="Arial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Ingestion, preprocessing, and policy retrieval.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638251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5F70"/>
                </a:solidFill>
                <a:latin typeface="Arial"/>
              </a:rPr>
              <a:t>6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27632"/>
            <a:ext cx="3417722" cy="27614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" y="1883664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975104"/>
            <a:ext cx="236616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60320"/>
            <a:ext cx="2905658" cy="1618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0312" indent="-210312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A100FF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pandas read_csv / read_excel for the tabular extract</a:t>
            </a:r>
          </a:p>
          <a:p>
            <a:pPr marL="210312" indent="-210312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A100FF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pdfplumber for the regulation PDF</a:t>
            </a:r>
          </a:p>
          <a:p>
            <a:pPr marL="210312" indent="-210312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A100FF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Source name, load time and row count captured on entry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21810" y="2953512"/>
            <a:ext cx="201168" cy="182880"/>
          </a:xfrm>
          <a:prstGeom prst="right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86986" y="1627632"/>
            <a:ext cx="3417722" cy="27614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43018" y="1883664"/>
            <a:ext cx="457200" cy="457200"/>
          </a:xfrm>
          <a:prstGeom prst="ellipse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8234" y="1975104"/>
            <a:ext cx="236616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3018" y="2560320"/>
            <a:ext cx="2905658" cy="1618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0312" indent="-210312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500C0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Type inference and canonical column naming</a:t>
            </a:r>
          </a:p>
          <a:p>
            <a:pPr marL="210312" indent="-210312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7500C0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Null, duplicate and cardinality profiling</a:t>
            </a:r>
          </a:p>
          <a:p>
            <a:pPr marL="210312" indent="-210312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7500C0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PDF split into ~200 chunks, each anchored to its article reference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68716" y="2953512"/>
            <a:ext cx="201168" cy="182880"/>
          </a:xfrm>
          <a:prstGeom prst="rightArrow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33892" y="1627632"/>
            <a:ext cx="3417722" cy="27614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89924" y="1883664"/>
            <a:ext cx="457200" cy="457200"/>
          </a:xfrm>
          <a:prstGeom prst="ellipse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5140" y="1975104"/>
            <a:ext cx="236616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Policy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9924" y="2560320"/>
            <a:ext cx="2905658" cy="1618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0312" indent="-210312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50A0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all-MiniLM-L6-v2 sentence embeddings, ~90 MB, runs on CPU</a:t>
            </a:r>
          </a:p>
          <a:p>
            <a:pPr marL="210312" indent="-210312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FF50A0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Cosine similarity computed in numpy</a:t>
            </a:r>
          </a:p>
          <a:p>
            <a:pPr marL="210312" indent="-210312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FF50A0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Returns clause text plus article reference for citation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681728"/>
            <a:ext cx="10911535" cy="1517904"/>
          </a:xfrm>
          <a:prstGeom prst="roundRect">
            <a:avLst>
              <a:gd name="adj" fmla="val 3500"/>
            </a:avLst>
          </a:prstGeom>
          <a:solidFill>
            <a:srgbClr val="E8F9F7"/>
          </a:solidFill>
          <a:ln w="12700">
            <a:solidFill>
              <a:srgbClr val="B8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681728"/>
            <a:ext cx="10326319" cy="1517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B62"/>
                </a:solidFill>
                <a:latin typeface="Arial"/>
              </a:rPr>
              <a:t>Scoped deliberately: retrieval exists to cite clauses, nothing else.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Arial"/>
              </a:rPr>
              <a:t>At ~200 chunks a vector database buys no measurable recall and adds an install dependency that can fail on the build machine. Numpy cosine similarity is roughly ten lines and has no such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A100FF"/>
                </a:solidFill>
                <a:latin typeface="Arial"/>
              </a:rPr>
              <a:t>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The same system, seen as an execution graph.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638251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5F70"/>
                </a:solidFill>
                <a:latin typeface="Arial"/>
              </a:rPr>
              <a:t>7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7" y="1664208"/>
            <a:ext cx="3611880" cy="420624"/>
          </a:xfrm>
          <a:prstGeom prst="roundRect">
            <a:avLst>
              <a:gd name="adj" fmla="val 14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1664208"/>
            <a:ext cx="350215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metadata_node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30068" y="2084832"/>
            <a:ext cx="0" cy="107442"/>
          </a:xfrm>
          <a:prstGeom prst="line">
            <a:avLst/>
          </a:prstGeom>
          <a:ln w="15875">
            <a:solidFill>
              <a:srgbClr val="750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67662" y="2192274"/>
            <a:ext cx="1924812" cy="0"/>
          </a:xfrm>
          <a:prstGeom prst="line">
            <a:avLst/>
          </a:prstGeom>
          <a:ln w="15875">
            <a:solidFill>
              <a:srgbClr val="750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own Arrow 8"/>
          <p:cNvSpPr/>
          <p:nvPr/>
        </p:nvSpPr>
        <p:spPr>
          <a:xfrm>
            <a:off x="1776222" y="2192274"/>
            <a:ext cx="182880" cy="107442"/>
          </a:xfrm>
          <a:prstGeom prst="downArrow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own Arrow 9"/>
          <p:cNvSpPr/>
          <p:nvPr/>
        </p:nvSpPr>
        <p:spPr>
          <a:xfrm>
            <a:off x="3701034" y="2192274"/>
            <a:ext cx="182880" cy="107442"/>
          </a:xfrm>
          <a:prstGeom prst="downArrow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4127" y="2299716"/>
            <a:ext cx="1687068" cy="420624"/>
          </a:xfrm>
          <a:prstGeom prst="roundRect">
            <a:avLst>
              <a:gd name="adj" fmla="val 14000"/>
            </a:avLst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2299716"/>
            <a:ext cx="15773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quality_node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8939" y="2299716"/>
            <a:ext cx="1687068" cy="420624"/>
          </a:xfrm>
          <a:prstGeom prst="roundRect">
            <a:avLst>
              <a:gd name="adj" fmla="val 14000"/>
            </a:avLst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03803" y="2299716"/>
            <a:ext cx="15773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compliance_node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67662" y="2720340"/>
            <a:ext cx="0" cy="107442"/>
          </a:xfrm>
          <a:prstGeom prst="line">
            <a:avLst/>
          </a:prstGeom>
          <a:ln w="15875">
            <a:solidFill>
              <a:srgbClr val="750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92474" y="2720340"/>
            <a:ext cx="0" cy="107442"/>
          </a:xfrm>
          <a:prstGeom prst="line">
            <a:avLst/>
          </a:prstGeom>
          <a:ln w="15875">
            <a:solidFill>
              <a:srgbClr val="750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867662" y="2827782"/>
            <a:ext cx="1924812" cy="0"/>
          </a:xfrm>
          <a:prstGeom prst="line">
            <a:avLst/>
          </a:prstGeom>
          <a:ln w="15875">
            <a:solidFill>
              <a:srgbClr val="750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own Arrow 17"/>
          <p:cNvSpPr/>
          <p:nvPr/>
        </p:nvSpPr>
        <p:spPr>
          <a:xfrm>
            <a:off x="2738627" y="2827782"/>
            <a:ext cx="182880" cy="107442"/>
          </a:xfrm>
          <a:prstGeom prst="downArrow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4127" y="2935224"/>
            <a:ext cx="3611880" cy="420624"/>
          </a:xfrm>
          <a:prstGeom prst="roundRect">
            <a:avLst>
              <a:gd name="adj" fmla="val 140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2935224"/>
            <a:ext cx="350215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join_node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738627" y="3383279"/>
            <a:ext cx="182880" cy="160020"/>
          </a:xfrm>
          <a:prstGeom prst="downArrow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24127" y="3570732"/>
            <a:ext cx="3611880" cy="420624"/>
          </a:xfrm>
          <a:prstGeom prst="roundRect">
            <a:avLst>
              <a:gd name="adj" fmla="val 14000"/>
            </a:avLst>
          </a:prstGeom>
          <a:solidFill>
            <a:srgbClr val="00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" y="3570732"/>
            <a:ext cx="350215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risk_node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2738627" y="4018788"/>
            <a:ext cx="182880" cy="160020"/>
          </a:xfrm>
          <a:prstGeom prst="downArrow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24127" y="4206240"/>
            <a:ext cx="3611880" cy="420624"/>
          </a:xfrm>
          <a:prstGeom prst="roundRect">
            <a:avLst>
              <a:gd name="adj" fmla="val 14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8992" y="4206240"/>
            <a:ext cx="350215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recommend_node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2738627" y="4654296"/>
            <a:ext cx="182880" cy="160020"/>
          </a:xfrm>
          <a:prstGeom prst="downArrow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24127" y="4841748"/>
            <a:ext cx="3611880" cy="420624"/>
          </a:xfrm>
          <a:prstGeom prst="roundRect">
            <a:avLst>
              <a:gd name="adj" fmla="val 14000"/>
            </a:avLst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8992" y="4841748"/>
            <a:ext cx="350215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review_gate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2738627" y="5289804"/>
            <a:ext cx="182880" cy="160020"/>
          </a:xfrm>
          <a:prstGeom prst="downArrow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24127" y="5477256"/>
            <a:ext cx="3611880" cy="420624"/>
          </a:xfrm>
          <a:prstGeom prst="roundRect">
            <a:avLst>
              <a:gd name="adj" fmla="val 140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78992" y="5477256"/>
            <a:ext cx="350215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report_node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18888" y="2263140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50A0"/>
                </a:solidFill>
                <a:latin typeface="Arial"/>
              </a:rPr>
              <a:t>parallel branch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5F5F70"/>
                </a:solidFill>
                <a:latin typeface="Arial"/>
              </a:rPr>
              <a:t>both append to issues[]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29400" y="1627632"/>
            <a:ext cx="4922215" cy="3310128"/>
          </a:xfrm>
          <a:prstGeom prst="roundRect">
            <a:avLst>
              <a:gd name="adj" fmla="val 3500"/>
            </a:avLst>
          </a:prstGeom>
          <a:solidFill>
            <a:srgbClr val="2B0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03720" y="1847088"/>
            <a:ext cx="43735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GovernanceContext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2249424"/>
            <a:ext cx="437357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8BFF"/>
                </a:solidFill>
                <a:latin typeface="Arial"/>
              </a:rPr>
              <a:t>dataset_name, dataframe</a:t>
            </a:r>
            <a:r>
              <a:rPr sz="950">
                <a:solidFill>
                  <a:srgbClr val="B49CC8"/>
                </a:solidFill>
                <a:latin typeface="Arial"/>
              </a:rPr>
              <a:t>   loaded once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2610612"/>
            <a:ext cx="437357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8BFF"/>
                </a:solidFill>
                <a:latin typeface="Arial"/>
              </a:rPr>
              <a:t>catalog[]</a:t>
            </a:r>
            <a:r>
              <a:rPr sz="950">
                <a:solidFill>
                  <a:srgbClr val="B49CC8"/>
                </a:solidFill>
                <a:latin typeface="Arial"/>
              </a:rPr>
              <a:t>   Metadata Discovery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2971800"/>
            <a:ext cx="437357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8BFF"/>
                </a:solidFill>
                <a:latin typeface="Arial"/>
              </a:rPr>
              <a:t>quality_report{}</a:t>
            </a:r>
            <a:r>
              <a:rPr sz="950">
                <a:solidFill>
                  <a:srgbClr val="B49CC8"/>
                </a:solidFill>
                <a:latin typeface="Arial"/>
              </a:rPr>
              <a:t>   Data Quality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332988"/>
            <a:ext cx="437357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8BFF"/>
                </a:solidFill>
                <a:latin typeface="Arial"/>
              </a:rPr>
              <a:t>compliance_report{}</a:t>
            </a:r>
            <a:r>
              <a:rPr sz="950">
                <a:solidFill>
                  <a:srgbClr val="B49CC8"/>
                </a:solidFill>
                <a:latin typeface="Arial"/>
              </a:rPr>
              <a:t>   Compliance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694176"/>
            <a:ext cx="437357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8BFF"/>
                </a:solidFill>
                <a:latin typeface="Arial"/>
              </a:rPr>
              <a:t>issues[]</a:t>
            </a:r>
            <a:r>
              <a:rPr sz="950">
                <a:solidFill>
                  <a:srgbClr val="B49CC8"/>
                </a:solidFill>
                <a:latin typeface="Arial"/>
              </a:rPr>
              <a:t>   all agents append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4055364"/>
            <a:ext cx="437357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8BFF"/>
                </a:solidFill>
                <a:latin typeface="Arial"/>
              </a:rPr>
              <a:t>recommendations[]</a:t>
            </a:r>
            <a:r>
              <a:rPr sz="950">
                <a:solidFill>
                  <a:srgbClr val="B49CC8"/>
                </a:solidFill>
                <a:latin typeface="Arial"/>
              </a:rPr>
              <a:t>   Recommendation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4416552"/>
            <a:ext cx="437357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8BFF"/>
                </a:solidFill>
                <a:latin typeface="Arial"/>
              </a:rPr>
              <a:t>audit_log[]</a:t>
            </a:r>
            <a:r>
              <a:rPr sz="950">
                <a:solidFill>
                  <a:srgbClr val="B49CC8"/>
                </a:solidFill>
                <a:latin typeface="Arial"/>
              </a:rPr>
              <a:t>   every node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29400" y="5157216"/>
            <a:ext cx="4922215" cy="1042415"/>
          </a:xfrm>
          <a:prstGeom prst="roundRect">
            <a:avLst>
              <a:gd name="adj" fmla="val 3500"/>
            </a:avLst>
          </a:prstGeom>
          <a:solidFill>
            <a:srgbClr val="FFEEF5"/>
          </a:solidFill>
          <a:ln w="12700">
            <a:solidFill>
              <a:srgbClr val="F6C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85432" y="5321808"/>
            <a:ext cx="4410151" cy="749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21B66"/>
                </a:solidFill>
                <a:latin typeface="Arial"/>
              </a:rPr>
              <a:t>The one thing that will break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1A1A2E"/>
                </a:solidFill>
                <a:latin typeface="Arial"/>
              </a:rPr>
              <a:t>issues[] needs a reducer — Annotated[list, operator.add]. Without it the parallel branch raises InvalidUpdateError at runtime.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291072"/>
            <a:ext cx="5760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F5F70"/>
                </a:solidFill>
                <a:latin typeface="Arial"/>
              </a:rPr>
              <a:t>Slide 3 showed who does what. This shows when it runs and how state merges.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A100FF"/>
                </a:solidFill>
                <a:latin typeface="Arial"/>
              </a:rPr>
              <a:t>AGENT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Metadata Discovery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638251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5F70"/>
                </a:solidFill>
                <a:latin typeface="Arial"/>
              </a:rPr>
              <a:t>8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25295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F5F70"/>
                </a:solidFill>
                <a:latin typeface="Arial"/>
              </a:rPr>
              <a:t>Builds the column inventory that every other agent depends 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01952"/>
            <a:ext cx="2522143" cy="3163824"/>
          </a:xfrm>
          <a:prstGeom prst="roundRect">
            <a:avLst>
              <a:gd name="adj" fmla="val 3500"/>
            </a:avLst>
          </a:prstGeom>
          <a:solidFill>
            <a:srgbClr val="F4F4F7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2121408"/>
            <a:ext cx="2083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5F5F70"/>
                </a:solidFill>
                <a:latin typeface="Arial"/>
              </a:rPr>
              <a:t>READS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505456"/>
            <a:ext cx="2083231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2024" indent="-192024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100FF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Raw dataframe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A100FF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Source file metadata — name, load time, row count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7943" y="3410712"/>
            <a:ext cx="182880" cy="146304"/>
          </a:xfrm>
          <a:prstGeom prst="right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36543" y="1901952"/>
            <a:ext cx="2522143" cy="3163824"/>
          </a:xfrm>
          <a:prstGeom prst="roundRect">
            <a:avLst>
              <a:gd name="adj" fmla="val 35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5999" y="2121408"/>
            <a:ext cx="2083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FFFFFF"/>
                </a:solidFill>
                <a:latin typeface="Arial"/>
              </a:rPr>
              <a:t>RULE-BASED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5999" y="2505456"/>
            <a:ext cx="2083231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2024" indent="-192024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FF"/>
                </a:solidFill>
                <a:latin typeface="Arial"/>
              </a:rPr>
              <a:t>—  </a:t>
            </a:r>
            <a:r>
              <a:rPr sz="1050">
                <a:solidFill>
                  <a:srgbClr val="FFFFFF"/>
                </a:solidFill>
                <a:latin typeface="Arial"/>
              </a:rPr>
              <a:t>Per column: dtype, null %, distinct %, min / max / mean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C98BFF"/>
                </a:solidFill>
                <a:latin typeface="Arial"/>
              </a:rPr>
              <a:t>—  </a:t>
            </a:r>
            <a:r>
              <a:rPr sz="1050">
                <a:solidFill>
                  <a:srgbClr val="FFFFFF"/>
                </a:solidFill>
                <a:latin typeface="Arial"/>
              </a:rPr>
              <a:t>Five representative sample values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C98BFF"/>
                </a:solidFill>
                <a:latin typeface="Arial"/>
              </a:rPr>
              <a:t>—  </a:t>
            </a:r>
            <a:r>
              <a:rPr sz="1050">
                <a:solidFill>
                  <a:srgbClr val="FFFFFF"/>
                </a:solidFill>
                <a:latin typeface="Arial"/>
              </a:rPr>
              <a:t>Semantic type inferred by regex — email, phone, date, identifier, free text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C98BFF"/>
                </a:solidFill>
                <a:latin typeface="Arial"/>
              </a:rPr>
              <a:t>—  </a:t>
            </a:r>
            <a:r>
              <a:rPr sz="1050">
                <a:solidFill>
                  <a:srgbClr val="FFFFFF"/>
                </a:solidFill>
                <a:latin typeface="Arial"/>
              </a:rPr>
              <a:t>Constant and near-constant column detection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04407" y="3410712"/>
            <a:ext cx="182880" cy="146304"/>
          </a:xfrm>
          <a:prstGeom prst="right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33007" y="1901952"/>
            <a:ext cx="2522143" cy="3163824"/>
          </a:xfrm>
          <a:prstGeom prst="roundRect">
            <a:avLst>
              <a:gd name="adj" fmla="val 3500"/>
            </a:avLst>
          </a:prstGeom>
          <a:solidFill>
            <a:srgbClr val="F6EEFF"/>
          </a:solidFill>
          <a:ln w="12700">
            <a:solidFill>
              <a:srgbClr val="E2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2463" y="2121408"/>
            <a:ext cx="2083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460073"/>
                </a:solidFill>
                <a:latin typeface="Arial"/>
              </a:rPr>
              <a:t>LLM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2463" y="2505456"/>
            <a:ext cx="2083231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2024" indent="-192024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100FF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Plain-English description of what each column holds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A100FF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Suggested business-glossary term from the column name plus samples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A100FF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First-pass flag on columns that look sensitive, handed to Compliance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00871" y="3410712"/>
            <a:ext cx="182880" cy="146304"/>
          </a:xfrm>
          <a:prstGeom prst="right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29471" y="1901952"/>
            <a:ext cx="2522143" cy="3163824"/>
          </a:xfrm>
          <a:prstGeom prst="roundRect">
            <a:avLst>
              <a:gd name="adj" fmla="val 3500"/>
            </a:avLst>
          </a:prstGeom>
          <a:solidFill>
            <a:srgbClr val="F4F4F7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48927" y="2121408"/>
            <a:ext cx="2083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5F5F70"/>
                </a:solidFill>
                <a:latin typeface="Arial"/>
              </a:rPr>
              <a:t>WRITES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8927" y="2505456"/>
            <a:ext cx="2083231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2024" indent="-192024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100FF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catalog[] — one record per column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A100FF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audit_log[] — profiling run recorded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03520"/>
            <a:ext cx="10911535" cy="896112"/>
          </a:xfrm>
          <a:prstGeom prst="roundRect">
            <a:avLst>
              <a:gd name="adj" fmla="val 3500"/>
            </a:avLst>
          </a:prstGeom>
          <a:solidFill>
            <a:srgbClr val="F7F7FA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10362895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Arial"/>
              </a:rPr>
              <a:t>Runs first, always. Quality and Compliance both branch off the catalog, so nothing downstream can start until the column inventory exists.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A100FF"/>
                </a:solidFill>
                <a:latin typeface="Arial"/>
              </a:rPr>
              <a:t>AGENT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Data Quality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638251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5F70"/>
                </a:solidFill>
                <a:latin typeface="Arial"/>
              </a:rPr>
              <a:t>9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25295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F5F70"/>
                </a:solidFill>
                <a:latin typeface="Arial"/>
              </a:rPr>
              <a:t>Scores the dataset against configured thresholds, then explains the failures.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01952"/>
            <a:ext cx="2522143" cy="3163824"/>
          </a:xfrm>
          <a:prstGeom prst="roundRect">
            <a:avLst>
              <a:gd name="adj" fmla="val 3500"/>
            </a:avLst>
          </a:prstGeom>
          <a:solidFill>
            <a:srgbClr val="F4F4F7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2121408"/>
            <a:ext cx="2083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5F5F70"/>
                </a:solidFill>
                <a:latin typeface="Arial"/>
              </a:rPr>
              <a:t>READS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505456"/>
            <a:ext cx="2083231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2024" indent="-192024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500C0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Dataframe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7500C0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catalog[] from Metadata Discovery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7500C0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Threshold config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7943" y="3410712"/>
            <a:ext cx="182880" cy="146304"/>
          </a:xfrm>
          <a:prstGeom prst="rightArrow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36543" y="1901952"/>
            <a:ext cx="2522143" cy="3163824"/>
          </a:xfrm>
          <a:prstGeom prst="roundRect">
            <a:avLst>
              <a:gd name="adj" fmla="val 35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5999" y="2121408"/>
            <a:ext cx="2083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FFFFFF"/>
                </a:solidFill>
                <a:latin typeface="Arial"/>
              </a:rPr>
              <a:t>RULE-BASED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5999" y="2505456"/>
            <a:ext cx="2083231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2024" indent="-192024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FF"/>
                </a:solidFill>
                <a:latin typeface="Arial"/>
              </a:rPr>
              <a:t>—  </a:t>
            </a:r>
            <a:r>
              <a:rPr sz="1050">
                <a:solidFill>
                  <a:srgbClr val="FFFFFF"/>
                </a:solidFill>
                <a:latin typeface="Arial"/>
              </a:rPr>
              <a:t>Four dimensions scored 0–100 against config thresholds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C98BFF"/>
                </a:solidFill>
                <a:latin typeface="Arial"/>
              </a:rPr>
              <a:t>—  </a:t>
            </a:r>
            <a:r>
              <a:rPr sz="1050">
                <a:solidFill>
                  <a:srgbClr val="FFFFFF"/>
                </a:solidFill>
                <a:latin typeface="Arial"/>
              </a:rPr>
              <a:t>Completeness — null rate per column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C98BFF"/>
                </a:solidFill>
                <a:latin typeface="Arial"/>
              </a:rPr>
              <a:t>—  </a:t>
            </a:r>
            <a:r>
              <a:rPr sz="1050">
                <a:solidFill>
                  <a:srgbClr val="FFFFFF"/>
                </a:solidFill>
                <a:latin typeface="Arial"/>
              </a:rPr>
              <a:t>Uniqueness — duplicate record rate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C98BFF"/>
                </a:solidFill>
                <a:latin typeface="Arial"/>
              </a:rPr>
              <a:t>—  </a:t>
            </a:r>
            <a:r>
              <a:rPr sz="1050">
                <a:solidFill>
                  <a:srgbClr val="FFFFFF"/>
                </a:solidFill>
                <a:latin typeface="Arial"/>
              </a:rPr>
              <a:t>Validity — regex conformance to the inferred type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C98BFF"/>
                </a:solidFill>
                <a:latin typeface="Arial"/>
              </a:rPr>
              <a:t>—  </a:t>
            </a:r>
            <a:r>
              <a:rPr sz="1050">
                <a:solidFill>
                  <a:srgbClr val="FFFFFF"/>
                </a:solidFill>
                <a:latin typeface="Arial"/>
              </a:rPr>
              <a:t>Consistency — canonical value and cross-field checks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04407" y="3410712"/>
            <a:ext cx="182880" cy="146304"/>
          </a:xfrm>
          <a:prstGeom prst="rightArrow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33007" y="1901952"/>
            <a:ext cx="2522143" cy="3163824"/>
          </a:xfrm>
          <a:prstGeom prst="roundRect">
            <a:avLst>
              <a:gd name="adj" fmla="val 3500"/>
            </a:avLst>
          </a:prstGeom>
          <a:solidFill>
            <a:srgbClr val="F6EEFF"/>
          </a:solidFill>
          <a:ln w="12700">
            <a:solidFill>
              <a:srgbClr val="E2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2463" y="2121408"/>
            <a:ext cx="2083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460073"/>
                </a:solidFill>
                <a:latin typeface="Arial"/>
              </a:rPr>
              <a:t>LLM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2463" y="2505456"/>
            <a:ext cx="2083231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2024" indent="-192024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500C0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Turns each failing dimension into a business narrative: what broke, which columns, and why it matters commercially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7500C0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Proposes a candidate cleaning rule per failure, for human review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00871" y="3410712"/>
            <a:ext cx="182880" cy="146304"/>
          </a:xfrm>
          <a:prstGeom prst="rightArrow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29471" y="1901952"/>
            <a:ext cx="2522143" cy="3163824"/>
          </a:xfrm>
          <a:prstGeom prst="roundRect">
            <a:avLst>
              <a:gd name="adj" fmla="val 3500"/>
            </a:avLst>
          </a:prstGeom>
          <a:solidFill>
            <a:srgbClr val="F4F4F7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48927" y="2121408"/>
            <a:ext cx="2083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5F5F70"/>
                </a:solidFill>
                <a:latin typeface="Arial"/>
              </a:rPr>
              <a:t>WRITES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8927" y="2505456"/>
            <a:ext cx="2083231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2024" indent="-192024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500C0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quality_report{}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7500C0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issues[] — appended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7500C0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audit_log[] — scores and threshold breaches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03520"/>
            <a:ext cx="10911535" cy="896112"/>
          </a:xfrm>
          <a:prstGeom prst="roundRect">
            <a:avLst>
              <a:gd name="adj" fmla="val 3500"/>
            </a:avLst>
          </a:prstGeom>
          <a:solidFill>
            <a:srgbClr val="F7F7FA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10362895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Arial"/>
              </a:rPr>
              <a:t>Accuracy and timeliness are deliberately reported as NOT ASSESSED rather than scored. Accuracy needs a golden reference dataset; timeliness needs an agreed freshness SLA. Neither exists here — see slide 13.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A100FF"/>
                </a:solidFill>
                <a:latin typeface="Arial"/>
              </a:rPr>
              <a:t>AGENT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Compliance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638251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5F70"/>
                </a:solidFill>
                <a:latin typeface="Arial"/>
              </a:rPr>
              <a:t>10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25295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F5F70"/>
                </a:solidFill>
                <a:latin typeface="Arial"/>
              </a:rPr>
              <a:t>Finds personal data wherever it is hiding, masks it, and cites the clause.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01952"/>
            <a:ext cx="2522143" cy="3163824"/>
          </a:xfrm>
          <a:prstGeom prst="roundRect">
            <a:avLst>
              <a:gd name="adj" fmla="val 3500"/>
            </a:avLst>
          </a:prstGeom>
          <a:solidFill>
            <a:srgbClr val="F4F4F7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2121408"/>
            <a:ext cx="2083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5F5F70"/>
                </a:solidFill>
                <a:latin typeface="Arial"/>
              </a:rPr>
              <a:t>READS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505456"/>
            <a:ext cx="2083231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2024" indent="-192024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50A0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Dataframe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FF50A0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catalog[] from Metadata Discovery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FF50A0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Retrieved policy chunks from the clause index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7943" y="3410712"/>
            <a:ext cx="182880" cy="146304"/>
          </a:xfrm>
          <a:prstGeom prst="rightArrow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36543" y="1901952"/>
            <a:ext cx="2522143" cy="3163824"/>
          </a:xfrm>
          <a:prstGeom prst="roundRect">
            <a:avLst>
              <a:gd name="adj" fmla="val 35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5999" y="2121408"/>
            <a:ext cx="2083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FFFFFF"/>
                </a:solidFill>
                <a:latin typeface="Arial"/>
              </a:rPr>
              <a:t>RULE-BASED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5999" y="2505456"/>
            <a:ext cx="2083231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2024" indent="-192024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FF"/>
                </a:solidFill>
                <a:latin typeface="Arial"/>
              </a:rPr>
              <a:t>—  </a:t>
            </a:r>
            <a:r>
              <a:rPr sz="1050">
                <a:solidFill>
                  <a:srgbClr val="FFFFFF"/>
                </a:solidFill>
                <a:latin typeface="Arial"/>
              </a:rPr>
              <a:t>PII classification by column name and by value regex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C98BFF"/>
                </a:solidFill>
                <a:latin typeface="Arial"/>
              </a:rPr>
              <a:t>—  </a:t>
            </a:r>
            <a:r>
              <a:rPr sz="1050">
                <a:solidFill>
                  <a:srgbClr val="FFFFFF"/>
                </a:solidFill>
                <a:latin typeface="Arial"/>
              </a:rPr>
              <a:t>Masking utility — hash or redact, applied before any logging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C98BFF"/>
                </a:solidFill>
                <a:latin typeface="Arial"/>
              </a:rPr>
              <a:t>—  </a:t>
            </a:r>
            <a:r>
              <a:rPr sz="1050">
                <a:solidFill>
                  <a:srgbClr val="FFFFFF"/>
                </a:solidFill>
                <a:latin typeface="Arial"/>
              </a:rPr>
              <a:t>Each finding mapped to a GDPR or CCPA article reference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C98BFF"/>
                </a:solidFill>
                <a:latin typeface="Arial"/>
              </a:rPr>
              <a:t>—  </a:t>
            </a:r>
            <a:r>
              <a:rPr sz="1050">
                <a:solidFill>
                  <a:srgbClr val="FFFFFF"/>
                </a:solidFill>
                <a:latin typeface="Arial"/>
              </a:rPr>
              <a:t>Name-based and value-based matches kept separate, with confidence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04407" y="3410712"/>
            <a:ext cx="182880" cy="146304"/>
          </a:xfrm>
          <a:prstGeom prst="rightArrow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33007" y="1901952"/>
            <a:ext cx="2522143" cy="3163824"/>
          </a:xfrm>
          <a:prstGeom prst="roundRect">
            <a:avLst>
              <a:gd name="adj" fmla="val 3500"/>
            </a:avLst>
          </a:prstGeom>
          <a:solidFill>
            <a:srgbClr val="F6EEFF"/>
          </a:solidFill>
          <a:ln w="12700">
            <a:solidFill>
              <a:srgbClr val="E2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2463" y="2121408"/>
            <a:ext cx="2083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460073"/>
                </a:solidFill>
                <a:latin typeface="Arial"/>
              </a:rPr>
              <a:t>LLM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2463" y="2505456"/>
            <a:ext cx="2083231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2024" indent="-192024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50A0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Scans free-text columns for personal data the regex misses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FF50A0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Retrieval supplies the exact clause text behind each finding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FF50A0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Explains in plain language why a column counts as personal data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00871" y="3410712"/>
            <a:ext cx="182880" cy="146304"/>
          </a:xfrm>
          <a:prstGeom prst="rightArrow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29471" y="1901952"/>
            <a:ext cx="2522143" cy="3163824"/>
          </a:xfrm>
          <a:prstGeom prst="roundRect">
            <a:avLst>
              <a:gd name="adj" fmla="val 3500"/>
            </a:avLst>
          </a:prstGeom>
          <a:solidFill>
            <a:srgbClr val="F4F4F7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48927" y="2121408"/>
            <a:ext cx="2083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5F5F70"/>
                </a:solidFill>
                <a:latin typeface="Arial"/>
              </a:rPr>
              <a:t>WRITES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8927" y="2505456"/>
            <a:ext cx="2083231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2024" indent="-192024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50A0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compliance_report{} — masked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FF50A0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issues[] — appended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FF50A0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audit_log[] — every classification and mask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03520"/>
            <a:ext cx="10911535" cy="896112"/>
          </a:xfrm>
          <a:prstGeom prst="roundRect">
            <a:avLst>
              <a:gd name="adj" fmla="val 3500"/>
            </a:avLst>
          </a:prstGeom>
          <a:solidFill>
            <a:srgbClr val="F7F7FA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10362895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Arial"/>
              </a:rPr>
              <a:t>Reports control gaps, not violations. Lawful basis, consent state and retention policy are not in the file, so a violation cannot honestly be asserted — but unmasked personal data demonstrably can.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A100FF"/>
                </a:solidFill>
                <a:latin typeface="Arial"/>
              </a:rPr>
              <a:t>AGENT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Governance Recommendation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638251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5F70"/>
                </a:solidFill>
                <a:latin typeface="Arial"/>
              </a:rPr>
              <a:t>11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25295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F5F70"/>
                </a:solidFill>
                <a:latin typeface="Arial"/>
              </a:rPr>
              <a:t>Turns a ranked list of findings into remediation someone can actually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01952"/>
            <a:ext cx="2522143" cy="3163824"/>
          </a:xfrm>
          <a:prstGeom prst="roundRect">
            <a:avLst>
              <a:gd name="adj" fmla="val 3500"/>
            </a:avLst>
          </a:prstGeom>
          <a:solidFill>
            <a:srgbClr val="F4F4F7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2121408"/>
            <a:ext cx="2083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5F5F70"/>
                </a:solidFill>
                <a:latin typeface="Arial"/>
              </a:rPr>
              <a:t>READS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505456"/>
            <a:ext cx="2083231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2024" indent="-192024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B8A9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issues[] from all three agents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00B8A9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Risk scores from risk_node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00B8A9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catalog[] for column context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7943" y="3410712"/>
            <a:ext cx="182880" cy="146304"/>
          </a:xfrm>
          <a:prstGeom prst="rightArrow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36543" y="1901952"/>
            <a:ext cx="2522143" cy="3163824"/>
          </a:xfrm>
          <a:prstGeom prst="roundRect">
            <a:avLst>
              <a:gd name="adj" fmla="val 35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5999" y="2121408"/>
            <a:ext cx="2083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FFFFFF"/>
                </a:solidFill>
                <a:latin typeface="Arial"/>
              </a:rPr>
              <a:t>RULE-BASED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5999" y="2505456"/>
            <a:ext cx="2083231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2024" indent="-192024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8BFF"/>
                </a:solidFill>
                <a:latin typeface="Arial"/>
              </a:rPr>
              <a:t>—  </a:t>
            </a:r>
            <a:r>
              <a:rPr sz="1050">
                <a:solidFill>
                  <a:srgbClr val="FFFFFF"/>
                </a:solidFill>
                <a:latin typeface="Arial"/>
              </a:rPr>
              <a:t>Grouping and ordering only — the score is never recomputed here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C98BFF"/>
                </a:solidFill>
                <a:latin typeface="Arial"/>
              </a:rPr>
              <a:t>—  </a:t>
            </a:r>
            <a:r>
              <a:rPr sz="1050">
                <a:solidFill>
                  <a:srgbClr val="FFFFFF"/>
                </a:solidFill>
                <a:latin typeface="Arial"/>
              </a:rPr>
              <a:t>Deduplicates issues that point at the same column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C98BFF"/>
                </a:solidFill>
                <a:latin typeface="Arial"/>
              </a:rPr>
              <a:t>—  </a:t>
            </a:r>
            <a:r>
              <a:rPr sz="1050">
                <a:solidFill>
                  <a:srgbClr val="FFFFFF"/>
                </a:solidFill>
                <a:latin typeface="Arial"/>
              </a:rPr>
              <a:t>Orders by risk score, then by affected row count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04407" y="3410712"/>
            <a:ext cx="182880" cy="146304"/>
          </a:xfrm>
          <a:prstGeom prst="rightArrow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33007" y="1901952"/>
            <a:ext cx="2522143" cy="3163824"/>
          </a:xfrm>
          <a:prstGeom prst="roundRect">
            <a:avLst>
              <a:gd name="adj" fmla="val 3500"/>
            </a:avLst>
          </a:prstGeom>
          <a:solidFill>
            <a:srgbClr val="F6EEFF"/>
          </a:solidFill>
          <a:ln w="12700">
            <a:solidFill>
              <a:srgbClr val="E2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2463" y="2121408"/>
            <a:ext cx="2083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460073"/>
                </a:solidFill>
                <a:latin typeface="Arial"/>
              </a:rPr>
              <a:t>LLM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2463" y="2505456"/>
            <a:ext cx="2083231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2024" indent="-192024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B8A9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Drafts one prioritised remediation per issue: action, suggested owner, effort estimate, and the rationale behind it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00B8A9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Merges findings that share a root cause into a single work item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00871" y="3410712"/>
            <a:ext cx="182880" cy="146304"/>
          </a:xfrm>
          <a:prstGeom prst="rightArrow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29471" y="1901952"/>
            <a:ext cx="2522143" cy="3163824"/>
          </a:xfrm>
          <a:prstGeom prst="roundRect">
            <a:avLst>
              <a:gd name="adj" fmla="val 3500"/>
            </a:avLst>
          </a:prstGeom>
          <a:solidFill>
            <a:srgbClr val="F4F4F7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48927" y="2121408"/>
            <a:ext cx="20832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5F5F70"/>
                </a:solidFill>
                <a:latin typeface="Arial"/>
              </a:rPr>
              <a:t>WRITES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8927" y="2505456"/>
            <a:ext cx="2083231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2024" indent="-192024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B8A9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recommendations[] — status = pending_review</a:t>
            </a:r>
          </a:p>
          <a:p>
            <a:pPr marL="192024" indent="-192024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00B8A9"/>
                </a:solidFill>
                <a:latin typeface="Arial"/>
              </a:rPr>
              <a:t>—  </a:t>
            </a:r>
            <a:r>
              <a:rPr sz="1050">
                <a:solidFill>
                  <a:srgbClr val="1A1A2E"/>
                </a:solidFill>
                <a:latin typeface="Arial"/>
              </a:rPr>
              <a:t>audit_log[] — one entry per drafted recommendation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03520"/>
            <a:ext cx="10911535" cy="896112"/>
          </a:xfrm>
          <a:prstGeom prst="roundRect">
            <a:avLst>
              <a:gd name="adj" fmla="val 3500"/>
            </a:avLst>
          </a:prstGeom>
          <a:solidFill>
            <a:srgbClr val="F7F7FA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10362895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Arial"/>
              </a:rPr>
              <a:t>Runs last, and applies nothing. Every recommendation lands in the review queue at pending_review until a human decides — see slide 12.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A100FF"/>
                </a:solidFill>
                <a:latin typeface="Arial"/>
              </a:rPr>
              <a:t>RISK SCORING &amp;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Deterministic scoring, then a human gate.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638251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5F70"/>
                </a:solidFill>
                <a:latin typeface="Arial"/>
              </a:rPr>
              <a:t>12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27632"/>
            <a:ext cx="4892040" cy="4572000"/>
          </a:xfrm>
          <a:prstGeom prst="roundRect">
            <a:avLst>
              <a:gd name="adj" fmla="val 3500"/>
            </a:avLst>
          </a:prstGeom>
          <a:solidFill>
            <a:srgbClr val="F7F7FA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865376"/>
            <a:ext cx="43068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2E"/>
                </a:solidFill>
                <a:latin typeface="Arial"/>
              </a:rPr>
              <a:t>The formula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286000"/>
            <a:ext cx="4306824" cy="566928"/>
          </a:xfrm>
          <a:prstGeom prst="roundRect">
            <a:avLst>
              <a:gd name="adj" fmla="val 35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286000"/>
            <a:ext cx="43068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risk  =  severity  ×  exposure  × 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17520"/>
            <a:ext cx="430682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0312" indent="-210312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A100FF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severity (1–5): from issue type — unmasked PII scores 5, a malformed value scores 2</a:t>
            </a:r>
          </a:p>
          <a:p>
            <a:pPr marL="210312" indent="-210312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150" b="1">
                <a:solidFill>
                  <a:srgbClr val="A100FF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exposure (1–3): is the column personal data, and is the table shared or exported</a:t>
            </a:r>
          </a:p>
          <a:p>
            <a:pPr marL="210312" indent="-210312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150" b="1">
                <a:solidFill>
                  <a:srgbClr val="A100FF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volume (0–1): share of rows affected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590288"/>
            <a:ext cx="43068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5F5F70"/>
                </a:solidFill>
                <a:latin typeface="Arial"/>
              </a:rPr>
              <a:t>BANDS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4901184"/>
            <a:ext cx="980694" cy="566928"/>
          </a:xfrm>
          <a:prstGeom prst="roundRect">
            <a:avLst>
              <a:gd name="adj" fmla="val 12000"/>
            </a:avLst>
          </a:prstGeom>
          <a:solidFill>
            <a:srgbClr val="00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4901184"/>
            <a:ext cx="98069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Low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0–25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41398" y="4901184"/>
            <a:ext cx="980694" cy="566928"/>
          </a:xfrm>
          <a:prstGeom prst="roundRect">
            <a:avLst>
              <a:gd name="adj" fmla="val 12000"/>
            </a:avLst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41398" y="4901184"/>
            <a:ext cx="98069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Medium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26–50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0108" y="4901184"/>
            <a:ext cx="980694" cy="566928"/>
          </a:xfrm>
          <a:prstGeom prst="roundRect">
            <a:avLst>
              <a:gd name="adj" fmla="val 12000"/>
            </a:avLst>
          </a:prstGeom>
          <a:solidFill>
            <a:srgbClr val="E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50108" y="4901184"/>
            <a:ext cx="98069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High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51–75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8818" y="4901184"/>
            <a:ext cx="980694" cy="566928"/>
          </a:xfrm>
          <a:prstGeom prst="roundRect">
            <a:avLst>
              <a:gd name="adj" fmla="val 12000"/>
            </a:avLst>
          </a:prstGeom>
          <a:solidFill>
            <a:srgbClr val="C21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8818" y="4901184"/>
            <a:ext cx="98069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Critical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76–100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669280"/>
            <a:ext cx="430682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60073"/>
                </a:solidFill>
                <a:latin typeface="Arial"/>
              </a:rPr>
              <a:t>Deterministic by design: same input, same score, every run. Inspectable in the dashboard and defensible in a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1645920"/>
            <a:ext cx="563544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2E"/>
                </a:solidFill>
                <a:latin typeface="Arial"/>
              </a:rPr>
              <a:t>The human-in-the-loop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16168" y="2103120"/>
            <a:ext cx="5635447" cy="457200"/>
          </a:xfrm>
          <a:prstGeom prst="roundRect">
            <a:avLst>
              <a:gd name="adj" fmla="val 14000"/>
            </a:avLst>
          </a:prstGeom>
          <a:solidFill>
            <a:srgbClr val="F4F4F7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16168" y="2103120"/>
            <a:ext cx="563544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A2E"/>
                </a:solidFill>
                <a:latin typeface="Arial"/>
              </a:rPr>
              <a:t>scored finding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642451" y="2596896"/>
            <a:ext cx="182880" cy="237744"/>
          </a:xfrm>
          <a:prstGeom prst="downArrow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705130" y="2907791"/>
            <a:ext cx="4057521" cy="475488"/>
          </a:xfrm>
          <a:prstGeom prst="roundRect">
            <a:avLst>
              <a:gd name="adj" fmla="val 20000"/>
            </a:avLst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05130" y="2907791"/>
            <a:ext cx="4057521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High or Critical?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16168" y="3694176"/>
            <a:ext cx="2689707" cy="1481328"/>
          </a:xfrm>
          <a:prstGeom prst="roundRect">
            <a:avLst>
              <a:gd name="adj" fmla="val 3500"/>
            </a:avLst>
          </a:prstGeom>
          <a:solidFill>
            <a:srgbClr val="FFEEF5"/>
          </a:solidFill>
          <a:ln w="12700">
            <a:solidFill>
              <a:srgbClr val="F6C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99048" y="3858768"/>
            <a:ext cx="232394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C21B66"/>
                </a:solidFill>
                <a:latin typeface="Arial"/>
              </a:rPr>
              <a:t>YES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1" i="0">
                <a:solidFill>
                  <a:srgbClr val="1A1A2E"/>
                </a:solidFill>
                <a:latin typeface="Arial"/>
              </a:rPr>
              <a:t>Human review queue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Arial"/>
              </a:rPr>
              <a:t>Blocked until a named reviewer approves or rejects. Nothing is applied automatically.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1907" y="3694176"/>
            <a:ext cx="2689707" cy="1481328"/>
          </a:xfrm>
          <a:prstGeom prst="roundRect">
            <a:avLst>
              <a:gd name="adj" fmla="val 3500"/>
            </a:avLst>
          </a:prstGeom>
          <a:solidFill>
            <a:srgbClr val="E8F9F7"/>
          </a:solidFill>
          <a:ln w="12700">
            <a:solidFill>
              <a:srgbClr val="B8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44787" y="3858768"/>
            <a:ext cx="232394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006B62"/>
                </a:solidFill>
                <a:latin typeface="Arial"/>
              </a:rPr>
              <a:t>NO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1" i="0">
                <a:solidFill>
                  <a:srgbClr val="1A1A2E"/>
                </a:solidFill>
                <a:latin typeface="Arial"/>
              </a:rPr>
              <a:t>Auto-logged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Arial"/>
              </a:rPr>
              <a:t>Recorded in the report and the audit log, but never blocks the pipeline.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16168" y="5394960"/>
            <a:ext cx="5635447" cy="804671"/>
          </a:xfrm>
          <a:prstGeom prst="roundRect">
            <a:avLst>
              <a:gd name="adj" fmla="val 35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72200" y="5394960"/>
            <a:ext cx="5123383" cy="8046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Every approve and every reject is appended to the JSONL audit log with the actor and a timestamp.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A100FF"/>
                </a:solidFill>
                <a:latin typeface="Arial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How we will know whether it actually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638251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5F70"/>
                </a:solidFill>
                <a:latin typeface="Arial"/>
              </a:rPr>
              <a:t>13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27632"/>
            <a:ext cx="3442106" cy="2788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6112" y="1901952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1883664"/>
            <a:ext cx="254599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2E"/>
                </a:solidFill>
                <a:latin typeface="Arial"/>
              </a:rPr>
              <a:t>Ground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50592"/>
            <a:ext cx="293004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0312" indent="-210312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A100FF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The 123 labelled defects seeded into the dataset</a:t>
            </a:r>
          </a:p>
          <a:p>
            <a:pPr marL="210312" indent="-210312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A100FF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Every defect carries its column, row range and expected catcher</a:t>
            </a:r>
          </a:p>
          <a:p>
            <a:pPr marL="210312" indent="-210312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A100FF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Detection is a straight comparison — flagged or missed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4794" y="1627632"/>
            <a:ext cx="3442106" cy="2788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30826" y="1901952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14874" y="1883664"/>
            <a:ext cx="254599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2E"/>
                </a:solidFill>
                <a:latin typeface="Arial"/>
              </a:rPr>
              <a:t>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0826" y="2450592"/>
            <a:ext cx="293004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0312" indent="-210312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500C0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Precision, recall and F1 computed per agent</a:t>
            </a:r>
          </a:p>
          <a:p>
            <a:pPr marL="210312" indent="-210312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7500C0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False positives counted explicitly, not quietly dropped</a:t>
            </a:r>
          </a:p>
          <a:p>
            <a:pPr marL="210312" indent="-210312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7500C0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Targets: recall ≥ 0.95 on PII detection, precision ≥ 0.80 overall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9508" y="1627632"/>
            <a:ext cx="3442106" cy="2788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65540" y="1901952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49588" y="1883664"/>
            <a:ext cx="254599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2E"/>
                </a:solidFill>
                <a:latin typeface="Arial"/>
              </a:rPr>
              <a:t>Human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5540" y="2450592"/>
            <a:ext cx="293004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0312" indent="-210312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50A0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A sample of findings rated against a fixed rubric</a:t>
            </a:r>
          </a:p>
          <a:p>
            <a:pPr marL="210312" indent="-210312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FF50A0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LLM narrative judged accurate / plausible / wrong</a:t>
            </a:r>
          </a:p>
          <a:p>
            <a:pPr marL="210312" indent="-210312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FF50A0"/>
                </a:solidFill>
                <a:latin typeface="Arial"/>
              </a:rPr>
              <a:t>—  </a:t>
            </a:r>
            <a:r>
              <a:rPr sz="1150">
                <a:solidFill>
                  <a:srgbClr val="1A1A2E"/>
                </a:solidFill>
                <a:latin typeface="Arial"/>
              </a:rPr>
              <a:t>Remediation judged actionable or not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90872"/>
            <a:ext cx="10911535" cy="1508760"/>
          </a:xfrm>
          <a:prstGeom prst="roundRect">
            <a:avLst>
              <a:gd name="adj" fmla="val 3500"/>
            </a:avLst>
          </a:prstGeom>
          <a:solidFill>
            <a:srgbClr val="F6EEFF"/>
          </a:solidFill>
          <a:ln w="12700">
            <a:solidFill>
              <a:srgbClr val="E2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4690872"/>
            <a:ext cx="10326319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60073"/>
                </a:solidFill>
                <a:latin typeface="Arial"/>
              </a:rPr>
              <a:t>What we are choosing not to measure — and saying so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460073"/>
                </a:solidFill>
                <a:latin typeface="Arial"/>
              </a:rPr>
              <a:t>Accuracy: </a:t>
            </a:r>
            <a:r>
              <a:rPr sz="1150">
                <a:solidFill>
                  <a:srgbClr val="1A1A2E"/>
                </a:solidFill>
                <a:latin typeface="Arial"/>
              </a:rPr>
              <a:t>requires a golden reference dataset to compare against.   </a:t>
            </a:r>
            <a:r>
              <a:rPr sz="1150" b="1">
                <a:solidFill>
                  <a:srgbClr val="460073"/>
                </a:solidFill>
                <a:latin typeface="Arial"/>
              </a:rPr>
              <a:t>Timeliness: </a:t>
            </a:r>
            <a:r>
              <a:rPr sz="1150">
                <a:solidFill>
                  <a:srgbClr val="1A1A2E"/>
                </a:solidFill>
                <a:latin typeface="Arial"/>
              </a:rPr>
              <a:t>requires an agreed freshness SLA.   Both are reported as NOT ASSESSED rather than given an invented number. An unmeasured dimension is a known gap; a fabricated score is a defect.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A100FF"/>
                </a:solidFill>
                <a:latin typeface="Arial"/>
              </a:rPr>
              <a:t>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Five required outputs, and what each one actually 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638251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5F70"/>
                </a:solidFill>
                <a:latin typeface="Arial"/>
              </a:rPr>
              <a:t>14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27632"/>
            <a:ext cx="10911535" cy="402336"/>
          </a:xfrm>
          <a:prstGeom prst="roundRect">
            <a:avLst>
              <a:gd name="adj" fmla="val 120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36192" y="1627632"/>
            <a:ext cx="30540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70">
                <a:solidFill>
                  <a:srgbClr val="FFFFFF"/>
                </a:solidFill>
                <a:latin typeface="Arial"/>
              </a:rPr>
              <a:t>REQUIRED DELIVERABLE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268" y="1627632"/>
            <a:ext cx="414515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70">
                <a:solidFill>
                  <a:srgbClr val="FFFFFF"/>
                </a:solidFill>
                <a:latin typeface="Arial"/>
              </a:rPr>
              <a:t>BUILT 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7882" y="1627632"/>
            <a:ext cx="30540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70">
                <a:solidFill>
                  <a:srgbClr val="FFFFFF"/>
                </a:solidFill>
                <a:latin typeface="Arial"/>
              </a:rPr>
              <a:t>SURFACES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57984"/>
            <a:ext cx="10911535" cy="716889"/>
          </a:xfrm>
          <a:prstGeom prst="roundRect">
            <a:avLst>
              <a:gd name="adj" fmla="val 3500"/>
            </a:avLst>
          </a:prstGeom>
          <a:solidFill>
            <a:srgbClr val="F7F7FA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77824" y="2333548"/>
            <a:ext cx="365760" cy="365760"/>
          </a:xfrm>
          <a:prstGeom prst="ellipse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2157984"/>
            <a:ext cx="2377348" cy="7168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2E"/>
                </a:solidFill>
                <a:latin typeface="Arial"/>
              </a:rPr>
              <a:t>Data 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268" y="2157984"/>
            <a:ext cx="4090294" cy="7168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Arial"/>
              </a:rPr>
              <a:t>Per-column profile, LLM description and suggested glossary 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7882" y="2157984"/>
            <a:ext cx="3054004" cy="7168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100FF"/>
                </a:solidFill>
                <a:latin typeface="Arial"/>
              </a:rPr>
              <a:t>Dashboard tab 1  ·  catalog.json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66313"/>
            <a:ext cx="10911535" cy="716889"/>
          </a:xfrm>
          <a:prstGeom prst="roundRect">
            <a:avLst>
              <a:gd name="adj" fmla="val 3500"/>
            </a:avLst>
          </a:prstGeom>
          <a:solidFill>
            <a:srgbClr val="F7F7FA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77824" y="3141878"/>
            <a:ext cx="365760" cy="365760"/>
          </a:xfrm>
          <a:prstGeom prst="ellipse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2966313"/>
            <a:ext cx="2377348" cy="7168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2E"/>
                </a:solidFill>
                <a:latin typeface="Arial"/>
              </a:rPr>
              <a:t>Data Quality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268" y="2966313"/>
            <a:ext cx="4090294" cy="7168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Arial"/>
              </a:rPr>
              <a:t>Four-dimension scorecard with failing-column drilldown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7882" y="2966313"/>
            <a:ext cx="3054004" cy="7168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500C0"/>
                </a:solidFill>
                <a:latin typeface="Arial"/>
              </a:rPr>
              <a:t>Dashboard tab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74643"/>
            <a:ext cx="10911535" cy="716889"/>
          </a:xfrm>
          <a:prstGeom prst="roundRect">
            <a:avLst>
              <a:gd name="adj" fmla="val 3500"/>
            </a:avLst>
          </a:prstGeom>
          <a:solidFill>
            <a:srgbClr val="F7F7FA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77824" y="3950208"/>
            <a:ext cx="365760" cy="365760"/>
          </a:xfrm>
          <a:prstGeom prst="ellipse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3774643"/>
            <a:ext cx="2377348" cy="7168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2E"/>
                </a:solidFill>
                <a:latin typeface="Arial"/>
              </a:rPr>
              <a:t>Compliance Monitoring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268" y="3774643"/>
            <a:ext cx="4090294" cy="7168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Arial"/>
              </a:rPr>
              <a:t>PII inventory, masking status and clause-cited control gaps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7882" y="3774643"/>
            <a:ext cx="3054004" cy="7168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50A0"/>
                </a:solidFill>
                <a:latin typeface="Arial"/>
              </a:rPr>
              <a:t>Dashboard tab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582972"/>
            <a:ext cx="10911535" cy="716889"/>
          </a:xfrm>
          <a:prstGeom prst="roundRect">
            <a:avLst>
              <a:gd name="adj" fmla="val 3500"/>
            </a:avLst>
          </a:prstGeom>
          <a:solidFill>
            <a:srgbClr val="F7F7FA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77824" y="4758537"/>
            <a:ext cx="365760" cy="365760"/>
          </a:xfrm>
          <a:prstGeom prst="ellipse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6464" y="4582972"/>
            <a:ext cx="2377348" cy="7168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2E"/>
                </a:solidFill>
                <a:latin typeface="Arial"/>
              </a:rPr>
              <a:t>AI Governance Assistant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268" y="4582972"/>
            <a:ext cx="4090294" cy="7168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Arial"/>
              </a:rPr>
              <a:t>Grounded Q&amp;A over the findings, plus drafted remediation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7882" y="4582972"/>
            <a:ext cx="3054004" cy="7168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B8A9"/>
                </a:solidFill>
                <a:latin typeface="Arial"/>
              </a:rPr>
              <a:t>Dashboard tab 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391302"/>
            <a:ext cx="10911535" cy="716889"/>
          </a:xfrm>
          <a:prstGeom prst="roundRect">
            <a:avLst>
              <a:gd name="adj" fmla="val 3500"/>
            </a:avLst>
          </a:prstGeom>
          <a:solidFill>
            <a:srgbClr val="F7F7FA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77824" y="5566867"/>
            <a:ext cx="365760" cy="365760"/>
          </a:xfrm>
          <a:prstGeom prst="ellipse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6464" y="5391302"/>
            <a:ext cx="2377348" cy="7168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2E"/>
                </a:solidFill>
                <a:latin typeface="Arial"/>
              </a:rPr>
              <a:t>Enterprise Reporting 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268" y="5391302"/>
            <a:ext cx="4090294" cy="7168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Arial"/>
              </a:rPr>
              <a:t>LLM executive summary, exportable as Markdown or PDF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7882" y="5391302"/>
            <a:ext cx="3054004" cy="7168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8B00"/>
                </a:solidFill>
                <a:latin typeface="Arial"/>
              </a:rPr>
              <a:t>Dashboard tab 5  ·  export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A100FF"/>
                </a:solidFill>
                <a:latin typeface="Arial"/>
              </a:rPr>
              <a:t>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One Streamlit app, five tabs, one review queue.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638251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5F70"/>
                </a:solidFill>
                <a:latin typeface="Arial"/>
              </a:rPr>
              <a:t>15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27632"/>
            <a:ext cx="6263640" cy="4224528"/>
          </a:xfrm>
          <a:prstGeom prst="roundRect">
            <a:avLst>
              <a:gd name="adj" fmla="val 3500"/>
            </a:avLst>
          </a:prstGeom>
          <a:solidFill>
            <a:srgbClr val="EEEEF3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86384" y="1773936"/>
            <a:ext cx="5971031" cy="310896"/>
          </a:xfrm>
          <a:prstGeom prst="roundRect">
            <a:avLst>
              <a:gd name="adj" fmla="val 16000"/>
            </a:avLst>
          </a:prstGeom>
          <a:solidFill>
            <a:srgbClr val="DA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86537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186537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80160" y="186537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86384" y="2176272"/>
            <a:ext cx="1128369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2176272"/>
            <a:ext cx="112836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5F70"/>
                </a:solidFill>
                <a:latin typeface="Arial"/>
              </a:rPr>
              <a:t>Catalog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97049" y="2176272"/>
            <a:ext cx="1128369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97049" y="2176272"/>
            <a:ext cx="112836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5F70"/>
                </a:solidFill>
                <a:latin typeface="Arial"/>
              </a:rPr>
              <a:t>Quality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7715" y="2176272"/>
            <a:ext cx="1128369" cy="365760"/>
          </a:xfrm>
          <a:prstGeom prst="roundRect">
            <a:avLst>
              <a:gd name="adj" fmla="val 160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7715" y="2176272"/>
            <a:ext cx="112836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Compliance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8380" y="2176272"/>
            <a:ext cx="1128369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18380" y="2176272"/>
            <a:ext cx="112836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5F70"/>
                </a:solidFill>
                <a:latin typeface="Arial"/>
              </a:rPr>
              <a:t>Assistant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9046" y="2176272"/>
            <a:ext cx="1128369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29046" y="2176272"/>
            <a:ext cx="112836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5F70"/>
                </a:solidFill>
                <a:latin typeface="Arial"/>
              </a:rPr>
              <a:t>Report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2651760"/>
            <a:ext cx="5971031" cy="30540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283464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2E"/>
                </a:solidFill>
                <a:latin typeface="Arial"/>
              </a:rPr>
              <a:t>Compliance findings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3182112"/>
            <a:ext cx="1417320" cy="713232"/>
          </a:xfrm>
          <a:prstGeom prst="roundRect">
            <a:avLst>
              <a:gd name="adj" fmla="val 3500"/>
            </a:avLst>
          </a:prstGeom>
          <a:solidFill>
            <a:srgbClr val="F7F7FA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52144" y="3255264"/>
            <a:ext cx="112471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A100FF"/>
                </a:solidFill>
                <a:latin typeface="Arial"/>
              </a:rPr>
              <a:t>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" y="3621024"/>
            <a:ext cx="11247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5F70"/>
                </a:solidFill>
                <a:latin typeface="Arial"/>
              </a:rPr>
              <a:t>PII columns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87752" y="3182112"/>
            <a:ext cx="1417320" cy="713232"/>
          </a:xfrm>
          <a:prstGeom prst="roundRect">
            <a:avLst>
              <a:gd name="adj" fmla="val 3500"/>
            </a:avLst>
          </a:prstGeom>
          <a:solidFill>
            <a:srgbClr val="F7F7FA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34056" y="3255264"/>
            <a:ext cx="112471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C21B66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4056" y="3621024"/>
            <a:ext cx="11247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5F70"/>
                </a:solidFill>
                <a:latin typeface="Arial"/>
              </a:rPr>
              <a:t>Critical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9664" y="3182112"/>
            <a:ext cx="1417320" cy="713232"/>
          </a:xfrm>
          <a:prstGeom prst="roundRect">
            <a:avLst>
              <a:gd name="adj" fmla="val 3500"/>
            </a:avLst>
          </a:prstGeom>
          <a:solidFill>
            <a:srgbClr val="F7F7FA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15968" y="3255264"/>
            <a:ext cx="112471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E88B00"/>
                </a:solidFill>
                <a:latin typeface="Arial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3621024"/>
            <a:ext cx="11247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5F70"/>
                </a:solidFill>
                <a:latin typeface="Arial"/>
              </a:rPr>
              <a:t>Pending 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4078224"/>
            <a:ext cx="55321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" y="407822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A2E"/>
                </a:solidFill>
                <a:latin typeface="Arial"/>
              </a:rPr>
              <a:t>customer_email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407822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5F70"/>
                </a:solidFill>
                <a:latin typeface="Arial"/>
              </a:rPr>
              <a:t>Unmasked personal 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49240" y="4105656"/>
            <a:ext cx="713232" cy="219456"/>
          </a:xfrm>
          <a:prstGeom prst="roundRect">
            <a:avLst>
              <a:gd name="adj" fmla="val 40000"/>
            </a:avLst>
          </a:prstGeom>
          <a:solidFill>
            <a:srgbClr val="C21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9240" y="4105656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Critical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4078224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100FF"/>
                </a:solidFill>
                <a:latin typeface="Arial"/>
              </a:rPr>
              <a:t>review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4407408"/>
            <a:ext cx="5532120" cy="27432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97280" y="440740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A2E"/>
                </a:solidFill>
                <a:latin typeface="Arial"/>
              </a:rPr>
              <a:t>notes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440740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5F70"/>
                </a:solidFill>
                <a:latin typeface="Arial"/>
              </a:rPr>
              <a:t>Email address in free text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49240" y="4434840"/>
            <a:ext cx="713232" cy="219456"/>
          </a:xfrm>
          <a:prstGeom prst="roundRect">
            <a:avLst>
              <a:gd name="adj" fmla="val 40000"/>
            </a:avLst>
          </a:prstGeom>
          <a:solidFill>
            <a:srgbClr val="E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49240" y="4434840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440740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100FF"/>
                </a:solidFill>
                <a:latin typeface="Arial"/>
              </a:rPr>
              <a:t>review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5840" y="4736592"/>
            <a:ext cx="55321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97280" y="473659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A2E"/>
                </a:solidFill>
                <a:latin typeface="Arial"/>
              </a:rPr>
              <a:t>cust_ref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0" y="473659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5F70"/>
                </a:solidFill>
                <a:latin typeface="Arial"/>
              </a:rPr>
              <a:t>National ID in mislabeled column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49240" y="4764024"/>
            <a:ext cx="713232" cy="219456"/>
          </a:xfrm>
          <a:prstGeom prst="roundRect">
            <a:avLst>
              <a:gd name="adj" fmla="val 40000"/>
            </a:avLst>
          </a:prstGeom>
          <a:solidFill>
            <a:srgbClr val="C21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349240" y="4764024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Critical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473659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100FF"/>
                </a:solidFill>
                <a:latin typeface="Arial"/>
              </a:rPr>
              <a:t>review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5840" y="5065776"/>
            <a:ext cx="5532120" cy="27432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97280" y="506577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A2E"/>
                </a:solidFill>
                <a:latin typeface="Arial"/>
              </a:rPr>
              <a:t>phone_no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60320" y="506577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5F70"/>
                </a:solidFill>
                <a:latin typeface="Arial"/>
              </a:rPr>
              <a:t>Unmasked personal data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49240" y="5093208"/>
            <a:ext cx="713232" cy="219456"/>
          </a:xfrm>
          <a:prstGeom prst="roundRect">
            <a:avLst>
              <a:gd name="adj" fmla="val 40000"/>
            </a:avLst>
          </a:prstGeom>
          <a:solidFill>
            <a:srgbClr val="E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349240" y="5093208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50657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100FF"/>
                </a:solidFill>
                <a:latin typeface="Arial"/>
              </a:rPr>
              <a:t>review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94360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F5F70"/>
                </a:solidFill>
                <a:latin typeface="Arial"/>
              </a:rPr>
              <a:t>Indicative wireframe — layout, not final styling.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87768" y="1627632"/>
            <a:ext cx="4263847" cy="13898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7525512" y="1883664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891271" y="1865376"/>
            <a:ext cx="340431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2E"/>
                </a:solidFill>
                <a:latin typeface="Arial"/>
              </a:rPr>
              <a:t>Five tabs, one per deliverable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25512" y="2286000"/>
            <a:ext cx="3788359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F5F70"/>
                </a:solidFill>
                <a:latin typeface="Arial"/>
              </a:rPr>
              <a:t>The dashboard is not a separate deliverable — it is the surface all five are delivered through.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287768" y="3218687"/>
            <a:ext cx="4263847" cy="13898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7525512" y="3474720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891271" y="3456431"/>
            <a:ext cx="340431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2E"/>
                </a:solidFill>
                <a:latin typeface="Arial"/>
              </a:rPr>
              <a:t>A scoped assistant, not a chatbot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25512" y="3877055"/>
            <a:ext cx="3788359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F5F70"/>
                </a:solidFill>
                <a:latin typeface="Arial"/>
              </a:rPr>
              <a:t>Retrieval runs over governance_report.json only. Every answer cites the finding ID it came from, so it cannot invent a finding.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287768" y="4809744"/>
            <a:ext cx="4263847" cy="13898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E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7525512" y="5065776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891271" y="5047488"/>
            <a:ext cx="340431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2E"/>
                </a:solidFill>
                <a:latin typeface="Arial"/>
              </a:rPr>
              <a:t>Cached, never live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25512" y="5468112"/>
            <a:ext cx="3788359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F5F70"/>
                </a:solidFill>
                <a:latin typeface="Arial"/>
              </a:rPr>
              <a:t>All LLM output is written to disk on the first run and the UI reads the cache. Nothing is generated live during a demo.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0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evron 2"/>
          <p:cNvSpPr/>
          <p:nvPr/>
        </p:nvSpPr>
        <p:spPr>
          <a:xfrm>
            <a:off x="9074963" y="109728"/>
            <a:ext cx="2476652" cy="1444752"/>
          </a:xfrm>
          <a:prstGeom prst="chevron">
            <a:avLst/>
          </a:prstGeom>
          <a:solidFill>
            <a:srgbClr val="3E0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115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C98BFF"/>
                </a:solidFill>
                <a:latin typeface="Arial"/>
              </a:rPr>
              <a:t>RESPONSIBLE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561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rial"/>
              </a:rPr>
              <a:t>Controls built into the pipeline, not bolted on after.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82496"/>
            <a:ext cx="10911535" cy="731520"/>
          </a:xfrm>
          <a:prstGeom prst="roundRect">
            <a:avLst>
              <a:gd name="adj" fmla="val 3500"/>
            </a:avLst>
          </a:prstGeom>
          <a:solidFill>
            <a:srgbClr val="3A0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Chevron 6"/>
          <p:cNvSpPr/>
          <p:nvPr/>
        </p:nvSpPr>
        <p:spPr>
          <a:xfrm>
            <a:off x="914400" y="1906524"/>
            <a:ext cx="283464" cy="283464"/>
          </a:xfrm>
          <a:prstGeom prst="chevron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19" y="1682496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Accountability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82496"/>
            <a:ext cx="716249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49CC8"/>
                </a:solidFill>
                <a:latin typeface="Arial"/>
              </a:rPr>
              <a:t>Every agent action is written to the audit log with a named actor and a timestamp.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42032"/>
            <a:ext cx="10911535" cy="731520"/>
          </a:xfrm>
          <a:prstGeom prst="roundRect">
            <a:avLst>
              <a:gd name="adj" fmla="val 3500"/>
            </a:avLst>
          </a:prstGeom>
          <a:solidFill>
            <a:srgbClr val="3A0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Chevron 10"/>
          <p:cNvSpPr/>
          <p:nvPr/>
        </p:nvSpPr>
        <p:spPr>
          <a:xfrm>
            <a:off x="914400" y="2766060"/>
            <a:ext cx="283464" cy="283464"/>
          </a:xfrm>
          <a:prstGeom prst="chevron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19" y="2542032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Transparency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542032"/>
            <a:ext cx="716249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49CC8"/>
                </a:solidFill>
                <a:latin typeface="Arial"/>
              </a:rPr>
              <a:t>The scoring formula and every threshold are visible in the dashboard. No black-box score.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01568"/>
            <a:ext cx="10911535" cy="731520"/>
          </a:xfrm>
          <a:prstGeom prst="roundRect">
            <a:avLst>
              <a:gd name="adj" fmla="val 3500"/>
            </a:avLst>
          </a:prstGeom>
          <a:solidFill>
            <a:srgbClr val="3A0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Chevron 14"/>
          <p:cNvSpPr/>
          <p:nvPr/>
        </p:nvSpPr>
        <p:spPr>
          <a:xfrm>
            <a:off x="914400" y="3625596"/>
            <a:ext cx="283464" cy="283464"/>
          </a:xfrm>
          <a:prstGeom prst="chevron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19" y="3401568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Controllability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401568"/>
            <a:ext cx="716249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49CC8"/>
                </a:solidFill>
                <a:latin typeface="Arial"/>
              </a:rPr>
              <a:t>A human approval gate on every High and Critical finding. Nothing is applied automatically.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61104"/>
            <a:ext cx="10911535" cy="731520"/>
          </a:xfrm>
          <a:prstGeom prst="roundRect">
            <a:avLst>
              <a:gd name="adj" fmla="val 3500"/>
            </a:avLst>
          </a:prstGeom>
          <a:solidFill>
            <a:srgbClr val="3A0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Chevron 18"/>
          <p:cNvSpPr/>
          <p:nvPr/>
        </p:nvSpPr>
        <p:spPr>
          <a:xfrm>
            <a:off x="914400" y="4485132"/>
            <a:ext cx="283464" cy="283464"/>
          </a:xfrm>
          <a:prstGeom prst="chevron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17319" y="4261104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Auditability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261104"/>
            <a:ext cx="716249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49CC8"/>
                </a:solidFill>
                <a:latin typeface="Arial"/>
              </a:rPr>
              <a:t>Append-only JSONL. Any run can be replayed from its own log, after the fact.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120640"/>
            <a:ext cx="10911535" cy="731520"/>
          </a:xfrm>
          <a:prstGeom prst="roundRect">
            <a:avLst>
              <a:gd name="adj" fmla="val 3500"/>
            </a:avLst>
          </a:prstGeom>
          <a:solidFill>
            <a:srgbClr val="3A0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Chevron 22"/>
          <p:cNvSpPr/>
          <p:nvPr/>
        </p:nvSpPr>
        <p:spPr>
          <a:xfrm>
            <a:off x="914400" y="5344668"/>
            <a:ext cx="283464" cy="283464"/>
          </a:xfrm>
          <a:prstGeom prst="chevron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17319" y="512064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Privacy by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120640"/>
            <a:ext cx="716249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49CC8"/>
                </a:solidFill>
                <a:latin typeface="Arial"/>
              </a:rPr>
              <a:t>Inference runs locally. No customer data leaves the machine, and values are masked before logging.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199632"/>
            <a:ext cx="90827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 dirty="0">
                <a:solidFill>
                  <a:srgbClr val="C98BFF"/>
                </a:solidFill>
                <a:latin typeface="Arial"/>
              </a:rPr>
              <a:t>A governance tool that cannot govern itself is not a governance tool.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2815" y="61996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49CC8"/>
                </a:solidFill>
                <a:latin typeface="Arial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2596</Words>
  <Application>Microsoft Office PowerPoint</Application>
  <PresentationFormat>Widescreen</PresentationFormat>
  <Paragraphs>364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sauravsingh sisodiya</cp:lastModifiedBy>
  <cp:revision>2</cp:revision>
  <dcterms:created xsi:type="dcterms:W3CDTF">2013-01-27T09:14:16Z</dcterms:created>
  <dcterms:modified xsi:type="dcterms:W3CDTF">2026-08-10T16:56:10Z</dcterms:modified>
  <cp:category/>
</cp:coreProperties>
</file>